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42e966e9d54919" /><Relationship Type="http://schemas.openxmlformats.org/officeDocument/2006/relationships/extended-properties" Target="/docProps/app.xml" Id="Rcc07222aeb86476c" /><Relationship Type="http://schemas.openxmlformats.org/officeDocument/2006/relationships/officeDocument" Target="/ppt/presentation.xml" Id="Rf62bee8879224d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31e5c4ee78451a"/>
  </p:sldMasterIdLst>
  <p:notesMasterIdLst>
    <p:notesMasterId xmlns:r="http://schemas.openxmlformats.org/officeDocument/2006/relationships" r:id="R37576c51f6a94653"/>
  </p:notesMasterIdLst>
  <p:sldIdLst>
    <p:sldId xmlns:r="http://schemas.openxmlformats.org/officeDocument/2006/relationships" id="256" r:id="R1ea6ab9108734185"/>
    <p:sldId xmlns:r="http://schemas.openxmlformats.org/officeDocument/2006/relationships" id="257" r:id="R177dea1307474d0c"/>
    <p:sldId xmlns:r="http://schemas.openxmlformats.org/officeDocument/2006/relationships" id="258" r:id="R9caf2d869185441d"/>
    <p:sldId xmlns:r="http://schemas.openxmlformats.org/officeDocument/2006/relationships" id="259" r:id="R73e2fed822c9431a"/>
    <p:sldId xmlns:r="http://schemas.openxmlformats.org/officeDocument/2006/relationships" id="260" r:id="R3dd00732b5464378"/>
    <p:sldId xmlns:r="http://schemas.openxmlformats.org/officeDocument/2006/relationships" id="261" r:id="R317156c50b684a9f"/>
    <p:sldId xmlns:r="http://schemas.openxmlformats.org/officeDocument/2006/relationships" id="262" r:id="R868f60395ecf4231"/>
    <p:sldId xmlns:r="http://schemas.openxmlformats.org/officeDocument/2006/relationships" id="263" r:id="Rdedb7ae878a94cf8"/>
    <p:sldId xmlns:r="http://schemas.openxmlformats.org/officeDocument/2006/relationships" id="264" r:id="Rebe61470b20a4cf9"/>
    <p:sldId xmlns:r="http://schemas.openxmlformats.org/officeDocument/2006/relationships" id="265" r:id="R224e1c54bb4c4178"/>
    <p:sldId xmlns:r="http://schemas.openxmlformats.org/officeDocument/2006/relationships" id="266" r:id="R08d3d8a953a74870"/>
    <p:sldId xmlns:r="http://schemas.openxmlformats.org/officeDocument/2006/relationships" id="267" r:id="Rea592ea341d043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d0970651974f4a" /><Relationship Type="http://schemas.openxmlformats.org/officeDocument/2006/relationships/slideMaster" Target="/ppt/slideMasters/slideMaster1.xml" Id="Rbb31e5c4ee78451a" /><Relationship Type="http://schemas.openxmlformats.org/officeDocument/2006/relationships/notesMaster" Target="/ppt/notesMasters/notesMaster1.xml" Id="R37576c51f6a94653" /><Relationship Type="http://schemas.openxmlformats.org/officeDocument/2006/relationships/presProps" Target="/ppt/presProps.xml" Id="Rc5da1ac2e5d6491f" /><Relationship Type="http://schemas.openxmlformats.org/officeDocument/2006/relationships/tableStyles" Target="/ppt/tableStyles.xml" Id="Rc7610539978646bb" /><Relationship Type="http://schemas.openxmlformats.org/officeDocument/2006/relationships/slide" Target="/ppt/slides/slide1.xml" Id="R1ea6ab9108734185" /><Relationship Type="http://schemas.openxmlformats.org/officeDocument/2006/relationships/slide" Target="/ppt/slides/slide2.xml" Id="R177dea1307474d0c" /><Relationship Type="http://schemas.openxmlformats.org/officeDocument/2006/relationships/slide" Target="/ppt/slides/slide3.xml" Id="R9caf2d869185441d" /><Relationship Type="http://schemas.openxmlformats.org/officeDocument/2006/relationships/slide" Target="/ppt/slides/slide4.xml" Id="R73e2fed822c9431a" /><Relationship Type="http://schemas.openxmlformats.org/officeDocument/2006/relationships/slide" Target="/ppt/slides/slide5.xml" Id="R3dd00732b5464378" /><Relationship Type="http://schemas.openxmlformats.org/officeDocument/2006/relationships/slide" Target="/ppt/slides/slide6.xml" Id="R317156c50b684a9f" /><Relationship Type="http://schemas.openxmlformats.org/officeDocument/2006/relationships/slide" Target="/ppt/slides/slide7.xml" Id="R868f60395ecf4231" /><Relationship Type="http://schemas.openxmlformats.org/officeDocument/2006/relationships/slide" Target="/ppt/slides/slide8.xml" Id="Rdedb7ae878a94cf8" /><Relationship Type="http://schemas.openxmlformats.org/officeDocument/2006/relationships/slide" Target="/ppt/slides/slide9.xml" Id="Rebe61470b20a4cf9" /><Relationship Type="http://schemas.openxmlformats.org/officeDocument/2006/relationships/slide" Target="/ppt/slides/slide10.xml" Id="R224e1c54bb4c4178" /><Relationship Type="http://schemas.openxmlformats.org/officeDocument/2006/relationships/slide" Target="/ppt/slides/slide11.xml" Id="R08d3d8a953a74870" /><Relationship Type="http://schemas.openxmlformats.org/officeDocument/2006/relationships/slide" Target="/ppt/slides/slide12.xml" Id="Rea592ea341d043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4465415f2d4f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d7d0321e4d4b58" /><Relationship Type="http://schemas.openxmlformats.org/officeDocument/2006/relationships/notesMaster" Target="/ppt/notesMasters/notesMaster1.xml" Id="Rad979af9148c43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22a320760544bf" /><Relationship Type="http://schemas.openxmlformats.org/officeDocument/2006/relationships/notesMaster" Target="/ppt/notesMasters/notesMaster1.xml" Id="Rff3d96bc8dfe4b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adc90381444a74" /><Relationship Type="http://schemas.openxmlformats.org/officeDocument/2006/relationships/notesMaster" Target="/ppt/notesMasters/notesMaster1.xml" Id="Ra0957c80252541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03b65e25b94af2" /><Relationship Type="http://schemas.openxmlformats.org/officeDocument/2006/relationships/notesMaster" Target="/ppt/notesMasters/notesMaster1.xml" Id="Rb89aa9accd774e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98291a79f64bfc" /><Relationship Type="http://schemas.openxmlformats.org/officeDocument/2006/relationships/notesMaster" Target="/ppt/notesMasters/notesMaster1.xml" Id="R62bf0f6db70a41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d78c070d1c463d" /><Relationship Type="http://schemas.openxmlformats.org/officeDocument/2006/relationships/notesMaster" Target="/ppt/notesMasters/notesMaster1.xml" Id="R4e158aa1e2b74a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3c24ebd9eb4fd2" /><Relationship Type="http://schemas.openxmlformats.org/officeDocument/2006/relationships/notesMaster" Target="/ppt/notesMasters/notesMaster1.xml" Id="R663947a624cf45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443b37b0124aa6" /><Relationship Type="http://schemas.openxmlformats.org/officeDocument/2006/relationships/notesMaster" Target="/ppt/notesMasters/notesMaster1.xml" Id="R24771f78443d40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c61cade06f48c9" /><Relationship Type="http://schemas.openxmlformats.org/officeDocument/2006/relationships/notesMaster" Target="/ppt/notesMasters/notesMaster1.xml" Id="R0c3844c2e71d41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077beff1954156" /><Relationship Type="http://schemas.openxmlformats.org/officeDocument/2006/relationships/notesMaster" Target="/ppt/notesMasters/notesMaster1.xml" Id="Rf8f2946e9e1c42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7f0bc6c8bc408c" /><Relationship Type="http://schemas.openxmlformats.org/officeDocument/2006/relationships/notesMaster" Target="/ppt/notesMasters/notesMaster1.xml" Id="R36caf0a37e6e47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955e333c66478d" /><Relationship Type="http://schemas.openxmlformats.org/officeDocument/2006/relationships/notesMaster" Target="/ppt/notesMasters/notesMaster1.xml" Id="R1760dc6084e64e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本簡報介紹 stock-news-calendar 專案目前可提供的功能與服務關係。</a:t>
            </a:r>
          </a:p>
          <a:p xmlns:a="http://schemas.openxmlformats.org/drawingml/2006/main">
            <a:r>
              <a:t>來源：https://github.com/UgiYo/stock-news-calendar/tree/main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資料基準：2026-10-13 專案程式與部署文件。</a:t>
            </a:r>
          </a:p>
          <a:p xmlns:a="http://schemas.openxmlformats.org/drawingml/2006/main">
            <a:r>
              <a:t>來源：https://github.com/UgiYo/stock-news-calendar/blob/main/README.md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資料基準：2026-10-13 專案程式與部署文件。</a:t>
            </a:r>
          </a:p>
          <a:p xmlns:a="http://schemas.openxmlformats.org/drawingml/2006/main">
            <a:r>
              <a:t>來源：https://github.com/UgiYo/stock-news-calendar/blob/main/src/main.js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資料基準：2026-10-13 專案程式與部署文件。</a:t>
            </a:r>
          </a:p>
          <a:p xmlns:a="http://schemas.openxmlformats.org/drawingml/2006/main">
            <a:r>
              <a:t>來源：https://github.com/UgiYo/stock-news-calendar/blob/main/src/main.js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美股目前以收盤日線為主。台股成交值排行與產業觀察並未直接複製到美股。</a:t>
            </a:r>
          </a:p>
          <a:p xmlns:a="http://schemas.openxmlformats.org/drawingml/2006/main">
            <a:r>
              <a:t>資料基準：2026-10-13 專案程式與部署文件。</a:t>
            </a:r>
          </a:p>
          <a:p xmlns:a="http://schemas.openxmlformats.org/drawingml/2006/main">
            <a:r>
              <a:t>來源：https://github.com/UgiYo/stock-news-calendar/blob/main/shared/markets.js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資料基準：2026-10-13 專案程式與部署文件。</a:t>
            </a:r>
          </a:p>
          <a:p xmlns:a="http://schemas.openxmlformats.org/drawingml/2006/main">
            <a:r>
              <a:t>來源：https://github.com/UgiYo/stock-news-calendar/blob/main/src/site-assistant.js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異動門檻與日期以可用收盤資料計算，新聞關聯不等於因果。來源另見 worker/stock-events.js、src/stock-events.js。</a:t>
            </a:r>
          </a:p>
          <a:p xmlns:a="http://schemas.openxmlformats.org/drawingml/2006/main">
            <a:r>
              <a:t>資料基準：2026-10-13 專案程式與部署文件。</a:t>
            </a:r>
          </a:p>
          <a:p xmlns:a="http://schemas.openxmlformats.org/drawingml/2006/main">
            <a:r>
              <a:t>來源：https://github.com/UgiYo/stock-news-calendar/blob/main/shared/stock-movements.js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目前線上前端為 ugiyo.github.io/stock-news-calendar/，API 為 news-calendar-api.pages.dev。Actions 透過蒐集器 API 回寫，並不直接連 D1。AI 可由瀏覽器或本機直接呼叫，詳見第 10 頁。</a:t>
            </a:r>
          </a:p>
          <a:p xmlns:a="http://schemas.openxmlformats.org/drawingml/2006/main">
            <a:r>
              <a:t>資料基準：2026-10-13 專案程式與部署文件。</a:t>
            </a:r>
          </a:p>
          <a:p xmlns:a="http://schemas.openxmlformats.org/drawingml/2006/main">
            <a:r>
              <a:t>來源：https://github.com/UgiYo/stock-news-calendar/blob/main/docs/architecture.md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資料基準：2026-10-13 專案程式與部署文件。</a:t>
            </a:r>
          </a:p>
          <a:p xmlns:a="http://schemas.openxmlformats.org/drawingml/2006/main">
            <a:r>
              <a:t>來源：https://github.com/UgiYo/stock-news-calendar/blob/main/.github/workflows/news.yml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公開模式成果開啟同步後可跨裝置。公司模式成果留本機。雲端背景模式僅支援公開 OpenAI/Azure，暂時憑證加密保存並於任務終止或過期時移除。</a:t>
            </a:r>
          </a:p>
          <a:p xmlns:a="http://schemas.openxmlformats.org/drawingml/2006/main">
            <a:r>
              <a:t>資料基準：2026-10-13 專案程式與部署文件。</a:t>
            </a:r>
          </a:p>
          <a:p xmlns:a="http://schemas.openxmlformats.org/drawingml/2006/main">
            <a:r>
              <a:t>來源：https://github.com/UgiYo/stock-news-calendar/blob/main/docs/architecture.md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資料基準：2026-10-13 專案程式與部署文件。</a:t>
            </a:r>
          </a:p>
          <a:p xmlns:a="http://schemas.openxmlformats.org/drawingml/2006/main">
            <a:r>
              <a:t>來源：https://github.com/UgiYo/stock-news-calendar/blob/main/worker/CLOUDFLARE_PAGES.md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後續發展列為建議方向，未宣稱完成、未承諾時程。</a:t>
            </a:r>
          </a:p>
          <a:p xmlns:a="http://schemas.openxmlformats.org/drawingml/2006/main">
            <a:r>
              <a:t>資料基準：2026-10-13 專案程式與部署文件。</a:t>
            </a:r>
          </a:p>
          <a:p xmlns:a="http://schemas.openxmlformats.org/drawingml/2006/main">
            <a:r>
              <a:t>來源：https://github.com/UgiYo/stock-news-calendar/blob/main/docs/architecture.md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95f2b87b145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6a90c2b8f442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064e285a843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55e0bb6e543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8ca11a6ca49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c885780bcc48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ABBD76-7C19-4433-BE57-5B53C96870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B91491-6CDF-4726-B3C3-2B8E054FCB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5AA4FB-2C32-4EE9-809D-7931932342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FCB765-2A37-4339-9A32-DDE9D547F8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A24D6C-8DD3-43E2-91E8-0E33F54CA4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B283E0-9F8D-4822-9ACC-D00E51543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6B2900-228A-400E-B45A-4A646DAFC0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268AB0-2EA9-4D1B-AD14-D558A6EA8A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EED335-2958-45E2-B292-2141576A22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4A686A-DBAE-474B-AAD0-81EBCAF51A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e18306600241ab" /><Relationship Type="http://schemas.openxmlformats.org/officeDocument/2006/relationships/slideLayout" Target="/ppt/slideLayouts/slideLayout1.xml" Id="R55210e306c474a4e" /><Relationship Type="http://schemas.openxmlformats.org/officeDocument/2006/relationships/slideLayout" Target="/ppt/slideLayouts/slideLayout2.xml" Id="R1992aeb18e254fa2" /><Relationship Type="http://schemas.openxmlformats.org/officeDocument/2006/relationships/slideLayout" Target="/ppt/slideLayouts/slideLayout3.xml" Id="R520c3c992bf24c31" /><Relationship Type="http://schemas.openxmlformats.org/officeDocument/2006/relationships/slideLayout" Target="/ppt/slideLayouts/slideLayout4.xml" Id="R8607ed4b0a644342" /><Relationship Type="http://schemas.openxmlformats.org/officeDocument/2006/relationships/slideLayout" Target="/ppt/slideLayouts/slideLayout5.xml" Id="R77cb2047d1b94269" /><Relationship Type="http://schemas.openxmlformats.org/officeDocument/2006/relationships/slideLayout" Target="/ppt/slideLayouts/slideLayout6.xml" Id="Rc26284907abe45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210e306c474a4e"/>
    <p:sldLayoutId xmlns:r="http://schemas.openxmlformats.org/officeDocument/2006/relationships" id="2147483650" r:id="R1992aeb18e254fa2"/>
    <p:sldLayoutId xmlns:r="http://schemas.openxmlformats.org/officeDocument/2006/relationships" id="2147483651" r:id="R520c3c992bf24c31"/>
    <p:sldLayoutId xmlns:r="http://schemas.openxmlformats.org/officeDocument/2006/relationships" id="2147483652" r:id="R8607ed4b0a644342"/>
    <p:sldLayoutId xmlns:r="http://schemas.openxmlformats.org/officeDocument/2006/relationships" id="2147483653" r:id="R77cb2047d1b94269"/>
    <p:sldLayoutId xmlns:r="http://schemas.openxmlformats.org/officeDocument/2006/relationships" id="2147483654" r:id="Rc26284907abe45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bd6cb814f84808" /><Relationship Type="http://schemas.openxmlformats.org/officeDocument/2006/relationships/notesSlide" Target="/ppt/notesSlides/notesSlide1.xml" Id="R3e7be5d54a4549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06a57b4b95465a" /><Relationship Type="http://schemas.openxmlformats.org/officeDocument/2006/relationships/notesSlide" Target="/ppt/notesSlides/notesSlide2.xml" Id="Rff66f5bd7a484b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ec49c47774405a" /><Relationship Type="http://schemas.openxmlformats.org/officeDocument/2006/relationships/notesSlide" Target="/ppt/notesSlides/notesSlide3.xml" Id="R4629b0fab0cb44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5ec98581624801" /><Relationship Type="http://schemas.openxmlformats.org/officeDocument/2006/relationships/notesSlide" Target="/ppt/notesSlides/notesSlide4.xml" Id="R729bb7b4577840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a3081c3efc4ede" /><Relationship Type="http://schemas.openxmlformats.org/officeDocument/2006/relationships/notesSlide" Target="/ppt/notesSlides/notesSlide5.xml" Id="Rc3e5de37022e43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7c130c5004112" /><Relationship Type="http://schemas.openxmlformats.org/officeDocument/2006/relationships/notesSlide" Target="/ppt/notesSlides/notesSlide6.xml" Id="R8aab51fd975548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5b4ed411a345ab" /><Relationship Type="http://schemas.openxmlformats.org/officeDocument/2006/relationships/notesSlide" Target="/ppt/notesSlides/notesSlide7.xml" Id="R451894a028554f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23700ca4c4b97" /><Relationship Type="http://schemas.openxmlformats.org/officeDocument/2006/relationships/notesSlide" Target="/ppt/notesSlides/notesSlide8.xml" Id="Rd37fde4b7daf46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253fb325de4ea0" /><Relationship Type="http://schemas.openxmlformats.org/officeDocument/2006/relationships/notesSlide" Target="/ppt/notesSlides/notesSlide9.xml" Id="R22c40efa35e748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9a29183d044ea8" /><Relationship Type="http://schemas.openxmlformats.org/officeDocument/2006/relationships/notesSlide" Target="/ppt/notesSlides/notesSlide10.xml" Id="R7941f1a9c49047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beaefc2b4b4034" /><Relationship Type="http://schemas.openxmlformats.org/officeDocument/2006/relationships/notesSlide" Target="/ppt/notesSlides/notesSlide11.xml" Id="R5292881dfd884c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094b1493914c6c" /><Relationship Type="http://schemas.openxmlformats.org/officeDocument/2006/relationships/notesSlide" Target="/ppt/notesSlides/notesSlide12.xml" Id="Rb32d836f2c2c4f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039F47F0-7AC0-4517-ACE5-CB2DAB2F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股聞日曆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3305F03-F0F4-4586-A5A0-6E2869AD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0">
                <a:solidFill>
                  <a:srgbClr val="8ED8D0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8ED8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0">
                <a:solidFill>
                  <a:srgbClr val="8ED8D0"/>
                </a:solidFill>
                <a:latin typeface="Noto Sans CJK TC"/>
                <a:ea typeface="Noto Sans CJK TC"/>
                <a:cs typeface="Noto Sans CJK TC"/>
              </a:rPr>
              <a:t>台股與美股的新聞、行情與 AI 研究工具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44E3B4D-02E9-4E81-B821-0F526AC3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DBE5E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DBE5E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DBE5E8"/>
                </a:solidFill>
                <a:latin typeface="Noto Sans CJK TC"/>
                <a:ea typeface="Noto Sans CJK TC"/>
                <a:cs typeface="Noto Sans CJK TC"/>
              </a:rPr>
              <a:t>專案介紹</a:t>
            </a:r>
          </a:p>
          <a:p xmlns:a="http://schemas.openxmlformats.org/drawingml/2006/main">
            <a:pPr>
              <a:defRPr sz="1950" b="0">
                <a:solidFill>
                  <a:srgbClr val="DBE5E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DBE5E8"/>
                </a:solidFill>
                <a:latin typeface="Noto Sans CJK TC"/>
                <a:ea typeface="Noto Sans CJK TC"/>
                <a:cs typeface="Noto Sans CJK TC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428725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C8AAA4F-EDAB-44AB-BC5B-72D09471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專案用途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483A524-D1AF-4088-A344-AD393632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B2F7385-FD9A-4925-A406-92262330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把個股研究所需資訊，集中在同一個工作入口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5DDEA21-95CA-40D6-A874-65EEC0F7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rPr>
              <a:t>研究上的問題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558154D-20C8-401B-8850-0D9AECF9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新聞散在不同來源，難以按日期回顧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Podcast 提到的股票，常需回聽才能確認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價格波動與事件之間，缺少整理好的證據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78AC039-A7B8-442E-ABC1-CD64F115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90825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rPr>
              <a:t>專案提供的方式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5A47AA2-2D2C-4E9C-BA8E-5A95BBE3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09950"/>
            <a:ext cx="381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以個人追蹤清單縮小範圍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把新聞、行情與節目內容串接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保留來源與研究成果供後續查證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5B62AAB-9271-4195-A787-33988ED5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適合追蹤個股、整理研究資料，以及展示自動化與 AI 應用。</a:t>
            </a:r>
          </a:p>
        </p:txBody>
      </p:sp>
    </p:spTree>
    <p:extLst>
      <p:ext uri="{BB962C8B-B14F-4D97-AF65-F5344CB8AC3E}">
        <p14:creationId xmlns:p14="http://schemas.microsoft.com/office/powerpoint/2010/main" val="548324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D4B88-B8DD-4367-8E25-FE8BDC3BCA5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15375" y="283368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76D7A-D9B3-4959-9834-C629A98152B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53125" y="283368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prstDash val="solid"/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063C2-9222-4A8C-A769-9C07B004F91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90875" y="283368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prstDash val="solid"/>
            <a:tailEnd type="arrow" w="med" len="med"/>
          </a:ln>
        </p:spPr>
      </p:cxnSp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E5A4E0DA-78C5-44C4-8F94-251A6E11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使用流程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AE24A4A-534F-4AE9-9A54-615EFDA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0F518-2152-4EBA-ADC6-075CEF6E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524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9CC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登入與追蹤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選市場並加入個股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A76DE-F064-4421-BDD9-3F3744B6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2524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9CC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閱讀與觀察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新聞月曆及股價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8F731-310F-464B-8A27-828E69CB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524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9CC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整理與追查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Podcast 與異動分析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E1572-8639-454E-809E-22343C6A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524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9CC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保存與回顧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成果中心及帳號同步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32914E8-3C89-42CC-9577-586138C2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rPr>
              <a:t>日常閱讀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5AF423C-BF70-400F-800D-8CC68998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選擇個股與日期，查看新聞、股價反應及節目提及。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2F60CB5-4C55-4D5F-8390-BBFB44F4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148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rPr>
              <a:t>需要時才使用 AI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374A749C-E3EC-4E05-8ACE-E2B91049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815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使用自己的 AI 設定產生整理結果，再從成果中心回顧。</a:t>
            </a:r>
          </a:p>
        </p:txBody>
      </p:sp>
    </p:spTree>
    <p:extLst>
      <p:ext uri="{BB962C8B-B14F-4D97-AF65-F5344CB8AC3E}">
        <p14:creationId xmlns:p14="http://schemas.microsoft.com/office/powerpoint/2010/main" val="15304892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6C3F1F7A-893A-4F90-9E09-10461B60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新聞月曆與個人追蹤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F430035-244E-4105-BCDE-FC712E6A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275489C-585B-41EC-97BD-0C68167D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用日期整理事件，用追蹤清單聚焦公司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1E93E6F-7D0A-4D6F-A8AE-74838C29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rPr>
              <a:t>新聞月曆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6D0728B-4282-495D-8414-C77AC7BE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5000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依日期呈現收錄新聞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支援切換月份與查看當日內容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原文連結與摘要保留查證入口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0982E74-619B-4F38-83E0-8796B272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1462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rPr>
              <a:t>追蹤與更新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042424D-0E0D-4FB1-BFCE-A5523F5C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33750"/>
            <a:ext cx="5000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股號、公司名稱支援模糊搜尋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單檔更新或更新目前市場追蹤股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顯示收集狀態與更新紀錄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A577F19-C52E-4A40-B897-2CBC1B72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97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公司新聞屬共用市場資料，同一檔股票可讓多位追蹤者使用更新結果。</a:t>
            </a:r>
          </a:p>
        </p:txBody>
      </p:sp>
    </p:spTree>
    <p:extLst>
      <p:ext uri="{BB962C8B-B14F-4D97-AF65-F5344CB8AC3E}">
        <p14:creationId xmlns:p14="http://schemas.microsoft.com/office/powerpoint/2010/main" val="5382888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7020BDE-D1CD-4B1A-AF85-09208A1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台股與美股分開呈現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8DECF8A-C9C5-4B17-93AD-F077A761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2D887E5-D2DA-4284-AAD2-AF6E7029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同一登入者管理兩個市場，新聞與交易日期各自分流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8B8D0-95B1-4FFB-AD73-99827F52CF6D}"/>
              </a:ext>
            </a:extLst>
          </p:cNvPr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3762375"/>
                <a:gridCol w="4667250"/>
              </a:tblGrid>
              <a:tr h="845344"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DD"/>
                      </a:solidFill>
                      <a:prstDash val="solid"/>
                    </a:lnL>
                    <a:lnR w="9525">
                      <a:solidFill>
                        <a:srgbClr val="D3DEDD"/>
                      </a:solidFill>
                      <a:prstDash val="solid"/>
                    </a:lnR>
                    <a:lnT w="9525">
                      <a:solidFill>
                        <a:srgbClr val="D3DEDD"/>
                      </a:solidFill>
                      <a:prstDash val="solid"/>
                    </a:lnT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142C4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台股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DD"/>
                      </a:solidFill>
                      <a:prstDash val="solid"/>
                    </a:lnR>
                    <a:lnT w="9525">
                      <a:solidFill>
                        <a:srgbClr val="D3DEDD"/>
                      </a:solidFill>
                      <a:prstDash val="solid"/>
                    </a:lnT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142C4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美股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DD"/>
                      </a:solidFill>
                      <a:prstDash val="solid"/>
                    </a:lnR>
                    <a:lnT w="9525">
                      <a:solidFill>
                        <a:srgbClr val="D3DEDD"/>
                      </a:solidFill>
                      <a:prstDash val="solid"/>
                    </a:lnT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142C42"/>
                    </a:solidFill>
                  </a:tcPr>
                </a:tc>
              </a:tr>
              <a:tr h="845344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股票識別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DD"/>
                      </a:solidFill>
                      <a:prstDash val="solid"/>
                    </a:lnL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例如 2330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例如 US:NVDA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5344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日期與幣別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DD"/>
                      </a:solidFill>
                      <a:prstDash val="solid"/>
                    </a:lnL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台灣日期，TWD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美東日期，USD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  <a:tr h="845344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目前重點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DD"/>
                      </a:solidFill>
                      <a:prstDash val="solid"/>
                    </a:lnL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新聞、成交值、產業觀察、K 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新聞、公司搜尋、日線與 SEC 資料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88862EB-5209-4A98-A014-E058C3FA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「全部追蹤」仍分成台股與美股區塊，跨裝置同步維持同一帳號。</a:t>
            </a:r>
          </a:p>
        </p:txBody>
      </p:sp>
    </p:spTree>
    <p:extLst>
      <p:ext uri="{BB962C8B-B14F-4D97-AF65-F5344CB8AC3E}">
        <p14:creationId xmlns:p14="http://schemas.microsoft.com/office/powerpoint/2010/main" val="17062582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C5942D90-DCDA-40F8-AD11-4E46327A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Podcast 與 AI 小助手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2FF051B-D82F-4325-9189-A69DF5B0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F391D0E-F976-40C7-AA52-5B55F40D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rPr>
              <a:t>Podcast 內容整理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666B62D-E438-4A4D-958B-5698B6F9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依頻道與來賓挑選集數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取得逐字稿後整理重點與提及標的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有缺段時可補轉，成果保留處理狀態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5C8170-0F90-4482-97C0-D33AE44B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rPr>
              <a:t>網站 AI 小助手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EB2C8CB-1639-42AD-9860-E7665734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28875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查詢所有已保存新聞，不限當月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結合已整理的 Podcast 內容回答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提供來源索引與歷史對話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C7A2C29-DA80-4DC9-A568-34BB2FAF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rPr>
              <a:t>AI 服務由使用者設定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B8B4EBD-52A9-4FF4-A798-D3AB2806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支援 OpenAI、Azure OpenAI 與相容服務。語音轉錄可使用獨立的 Whisper 相容 API。</a:t>
            </a:r>
          </a:p>
          <a:p xmlns:a="http://schemas.openxmlformats.org/drawingml/2006/main">
            <a:pPr>
              <a:defRPr sz="187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雲端背景與本機 Python 的資料路徑，依選用模式而不同。</a:t>
            </a:r>
          </a:p>
        </p:txBody>
      </p:sp>
    </p:spTree>
    <p:extLst>
      <p:ext uri="{BB962C8B-B14F-4D97-AF65-F5344CB8AC3E}">
        <p14:creationId xmlns:p14="http://schemas.microsoft.com/office/powerpoint/2010/main" val="19373177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C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7288FF9-0DD4-4319-8A47-6DFE0F1B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個股異動追查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F6C936E-FED2-420B-9450-81F6E85A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3C6C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3C6C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3C6CB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93016D-7888-44A4-9AC8-E44D8F65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8ED8D0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ED8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8ED8D0"/>
                </a:solidFill>
                <a:latin typeface="Noto Sans CJK TC"/>
                <a:ea typeface="Noto Sans CJK TC"/>
                <a:cs typeface="Noto Sans CJK TC"/>
              </a:rPr>
              <a:t>3 交易日 ±8%     或     5 交易日 ±12%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9DED792-4529-41BF-B389-754C9DD4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7DD6D0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7DD6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7DD6D0"/>
                </a:solidFill>
                <a:latin typeface="Noto Sans CJK TC"/>
                <a:ea typeface="Noto Sans CJK TC"/>
                <a:cs typeface="Noto Sans CJK TC"/>
              </a:rPr>
              <a:t>觸發條件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66F2FB5-6E53-49DD-88BC-40143750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依追蹤股與已保存行情判斷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符合門檻時，提供原因追查入口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C458A3D-586C-400B-A8FF-AB11E061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337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7DD6D0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7DD6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7DD6D0"/>
                </a:solidFill>
                <a:latin typeface="Noto Sans CJK TC"/>
                <a:ea typeface="Noto Sans CJK TC"/>
                <a:cs typeface="Noto Sans CJK TC"/>
              </a:rPr>
              <a:t>證據整理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B447701-5BC7-4669-A63F-B9C226F3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52825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回看約 45 天新聞與事件進展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整理候選事件、反向證據及來源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4D13FCE-CD41-4E1F-879B-88803BD2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0072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DBE5E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DBE5E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DBE5E8"/>
                </a:solidFill>
                <a:latin typeface="Noto Sans CJK TC"/>
                <a:ea typeface="Noto Sans CJK TC"/>
                <a:cs typeface="Noto Sans CJK TC"/>
              </a:rPr>
              <a:t>分析快取依登入者區分。找不到足夠證據時，明示資料限制。</a:t>
            </a:r>
          </a:p>
        </p:txBody>
      </p:sp>
    </p:spTree>
    <p:extLst>
      <p:ext uri="{BB962C8B-B14F-4D97-AF65-F5344CB8AC3E}">
        <p14:creationId xmlns:p14="http://schemas.microsoft.com/office/powerpoint/2010/main" val="6411538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067E7-C34F-40D4-8EBF-CD92C71F06B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762875" y="51435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2A27A-4278-4AA6-8D70-1CF227C7E0B2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6191250" y="3095625"/>
            <a:ext cx="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A0829-95EB-4763-BEE2-D54E6366E423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191250" y="3095625"/>
            <a:ext cx="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4E486-DC5D-4A96-9300-09E71C0541A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62875" y="24288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153E0-E6A6-4BE2-A399-B6CCB06496F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24250" y="24288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prstDash val="solid"/>
            <a:tailEnd type="arrow" w="med" len="med"/>
          </a:ln>
        </p:spPr>
      </p:cxnSp>
      <p:sp>
        <p:nvSpPr>
          <p:cNvPr id="18" name="text-0">
            <a:extLst xmlns:a="http://schemas.openxmlformats.org/drawingml/2006/main">
              <a:ext uri="{FF2B5EF4-FFF2-40B4-BE49-F238E27FC236}">
                <a16:creationId xmlns:a16="http://schemas.microsoft.com/office/drawing/2014/main" id="{34D8BC73-7505-4B41-8903-11293FB2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前後端服務架構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E0C2D69-433C-43F2-98AA-86F343B0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3EB96-E379-4D08-8215-A99931B9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9CC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GitHub Pages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Vite 建置的網站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HTML / CSS / JS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3D8C0-A728-4F08-9461-893CC6A0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62125"/>
            <a:ext cx="3143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9CC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Cloudflare Pages API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pages.dev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Workers 執行環境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9F7D2-217C-4F76-9D5C-7A003958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62125"/>
            <a:ext cx="2714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9CC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Cloudflare D1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SQLite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新聞、帳號與任務資料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3392A-2548-48F9-8245-713C9CAC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720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9CC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GitHub Actions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Python 收集與背景工作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1092F-33CF-411F-A0B0-1EBABBC9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72000"/>
            <a:ext cx="2714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9CC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公開資料與 AI 服務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RSS、交易所、SEC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Podcast 與選用 AI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11D3897-90EF-4C1F-A486-DC9E9895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HTTPS JSON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8D5D0CA-30F9-46E6-908E-16646C00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讀寫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92AF7935-6D2D-42A2-AC77-1F6C037B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rPr>
              <a:t>派送工作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0A66A37-4C8B-4211-830D-42D7A6D7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147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rPr>
              <a:t>API 回寫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5BC3277F-B1B4-49DE-B133-4D37C672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Google OAuth 與獨立管理者登入，由 API 處理驗證。</a:t>
            </a:r>
          </a:p>
        </p:txBody>
      </p:sp>
    </p:spTree>
    <p:extLst>
      <p:ext uri="{BB962C8B-B14F-4D97-AF65-F5344CB8AC3E}">
        <p14:creationId xmlns:p14="http://schemas.microsoft.com/office/powerpoint/2010/main" val="14980590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26BD8-81CD-46FD-B939-B02EB2D1ED2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15375" y="26670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26F00-5D29-4464-ACAB-EFFBD90517B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53125" y="26670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prstDash val="solid"/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48937-33FF-42A1-9633-BC8836F76F7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90875" y="26670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prstDash val="solid"/>
            <a:tailEnd type="arrow" w="med" len="med"/>
          </a:ln>
        </p:spPr>
      </p:cxnSp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9F65F8C6-AFF4-4071-8DD0-E18F8CDE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新聞更新與背景任務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C677FA0-A568-4B06-B8C3-7767FCF7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AC2BF-6820-4224-8B83-26FAC167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524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9CC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使用者更新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驗證登入及更新範圍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52A99-8A7A-45B3-80D9-503B0FCD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524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9CC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API 排隊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建立或沿用共用任務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57895-72D5-4EC7-9AF8-CF28D32C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524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9CC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Actions 收集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抓取與篩選公司新聞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5C480-E876-4235-80D9-7BADF40B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2524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C9CC"/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>
            <a:def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API 寫回</a:t>
            </a:r>
          </a:p>
          <a:p xmlns:a="http://schemas.openxmlformats.org/drawingml/2006/main">
            <a:pPr algn="ctr">
              <a:def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更新 D1 與處理狀態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B8F7222-D027-4C0A-A110-0D4D4CC2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rPr>
              <a:t>定期更新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0E78D7B-8F73-4CBB-A2EA-A016A337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新聞每日排程更新追蹤股聯集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台股成交值排程設定為 16:00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Podcast 排程設定為每日 18:00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3DE4722-A253-4A57-A3D0-B204F7C2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243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rPr>
              <a:t>追查與重試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E2E5EA8A-24AE-4446-B139-F9ADB819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434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Actions 留下觸發識別與任務結果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記錄成功、零則新聞與失敗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沿用完成結果時不另啟動 Actions</a:t>
            </a:r>
          </a:p>
        </p:txBody>
      </p:sp>
    </p:spTree>
    <p:extLst>
      <p:ext uri="{BB962C8B-B14F-4D97-AF65-F5344CB8AC3E}">
        <p14:creationId xmlns:p14="http://schemas.microsoft.com/office/powerpoint/2010/main" val="13773814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12706E4-17CB-4934-80B7-A87247C9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個人資料與 AI 執行模式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78566C8-5C08-4F0D-9D0B-9B4B7E29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A9705-1218-4262-98CB-EEC64E502D7B}"/>
              </a:ext>
            </a:extLst>
          </p:cNvPr>
          <p:cNvGraphicFramePr/>
          <p:nvPr/>
        </p:nvGraphicFramePr>
        <p:xfrm>
          <a:off xmlns:a="http://schemas.openxmlformats.org/drawingml/2006/main" x="666750" y="1790700"/>
          <a:ext xmlns:a="http://schemas.openxmlformats.org/drawingml/2006/main" cx="108585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714750"/>
                <a:gridCol w="4572000"/>
              </a:tblGrid>
              <a:tr h="881063"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執行模式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DD"/>
                      </a:solidFill>
                      <a:prstDash val="solid"/>
                    </a:lnL>
                    <a:lnR w="9525">
                      <a:solidFill>
                        <a:srgbClr val="D3DEDD"/>
                      </a:solidFill>
                      <a:prstDash val="solid"/>
                    </a:lnR>
                    <a:lnT w="9525">
                      <a:solidFill>
                        <a:srgbClr val="D3DEDD"/>
                      </a:solidFill>
                      <a:prstDash val="solid"/>
                    </a:lnT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142C4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處理位置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DD"/>
                      </a:solidFill>
                      <a:prstDash val="solid"/>
                    </a:lnR>
                    <a:lnT w="9525">
                      <a:solidFill>
                        <a:srgbClr val="D3DEDD"/>
                      </a:solidFill>
                      <a:prstDash val="solid"/>
                    </a:lnT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142C4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資料與成果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DD"/>
                      </a:solidFill>
                      <a:prstDash val="solid"/>
                    </a:lnR>
                    <a:lnT w="9525">
                      <a:solidFill>
                        <a:srgbClr val="D3DEDD"/>
                      </a:solidFill>
                      <a:prstDash val="solid"/>
                    </a:lnT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142C42"/>
                    </a:solidFill>
                  </a:tcPr>
                </a:tc>
              </a:tr>
              <a:tr h="881063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裝置直接連線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DD"/>
                      </a:solidFill>
                      <a:prstDash val="solid"/>
                    </a:lnL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瀏覽器呼叫指定 AI 服務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成果先留裝置，可選帳號同步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本機 Python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DD"/>
                      </a:solidFill>
                      <a:prstDash val="solid"/>
                    </a:lnL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localhost bridge 與本機任務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公司 AI 路徑與 checkpoint 留本機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EAF0EE"/>
                    </a:solidFill>
                  </a:tcPr>
                </a:tc>
              </a:tr>
              <a:tr h="881063"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個人雲端背景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EDD"/>
                      </a:solidFill>
                      <a:prstDash val="solid"/>
                    </a:lnL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API 排隊，Actions 執行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暫存加密憑證，成果依帳號查詢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EDD"/>
                      </a:solidFill>
                      <a:prstDash val="solid"/>
                    </a:lnR>
                    <a:lnB w="9525">
                      <a:solidFill>
                        <a:srgbClr val="D3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B227A0E-BECE-4DD5-ADEF-07BC0997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共用：公司、新聞、行情與節目集數。</a:t>
            </a:r>
          </a:p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個人：追蹤清單、同步設定、AI 成果與異動分析快取。</a:t>
            </a:r>
          </a:p>
        </p:txBody>
      </p:sp>
    </p:spTree>
    <p:extLst>
      <p:ext uri="{BB962C8B-B14F-4D97-AF65-F5344CB8AC3E}">
        <p14:creationId xmlns:p14="http://schemas.microsoft.com/office/powerpoint/2010/main" val="15235247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B6135D8D-0051-4516-BF29-EAD8F1FC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部署與管理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78CF002-3A25-4A15-9A4E-C3258DDC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36778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A962911-9E63-41F8-A57F-33184C7B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rPr>
              <a:t>服務部署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BA7507F-787B-4DA5-B6BD-6A7CA03E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GitHub Pages 提供靜態前端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Cloudflare Pages 重新建置 _worker.js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D1 綁定保存共用與個人資料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F2020D3-F500-4DB1-BBEC-48D801BE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rPr>
              <a:t>管理者後台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CF40FBB-2546-4873-8664-8204D0D0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獨立帳密登入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全站功能開關與個別帳號覆寫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使用者封鎖、設定儲存成功提示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E11723A-1DEB-4BD7-A1E2-9257B0FE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087F83"/>
                </a:solidFill>
                <a:latin typeface="Noto Sans CJK TC"/>
                <a:ea typeface="Noto Sans CJK TC"/>
                <a:cs typeface="Noto Sans CJK TC"/>
              </a:rPr>
              <a:t>維護方式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B8B1952-4EC4-4C22-B02C-A218BEC8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GitHub Actions 執行測試與前端部署。API 使用 Pages Git 整合部署。</a:t>
            </a:r>
          </a:p>
          <a:p xmlns:a="http://schemas.openxmlformats.org/drawingml/2006/main">
            <a:pPr>
              <a:defRPr sz="187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142C42"/>
                </a:solidFill>
                <a:latin typeface="Noto Sans CJK TC"/>
                <a:ea typeface="Noto Sans CJK TC"/>
                <a:cs typeface="Noto Sans CJK TC"/>
              </a:rPr>
              <a:t>前後端各有設定，更新時需確認 API 程式與功能旗標已套用。</a:t>
            </a:r>
          </a:p>
        </p:txBody>
      </p:sp>
    </p:spTree>
    <p:extLst>
      <p:ext uri="{BB962C8B-B14F-4D97-AF65-F5344CB8AC3E}">
        <p14:creationId xmlns:p14="http://schemas.microsoft.com/office/powerpoint/2010/main" val="16776921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2C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8A175F61-9F9D-48B9-86B5-95391B4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目前邊界與後續發展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C9A7B17-3E4A-478F-821B-09121650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A3C6CB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3C6C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3C6CB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A835BF3-640A-4339-AA70-13843CF5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7DD6D0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7DD6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7DD6D0"/>
                </a:solidFill>
                <a:latin typeface="Noto Sans CJK TC"/>
                <a:ea typeface="Noto Sans CJK TC"/>
                <a:cs typeface="Noto Sans CJK TC"/>
              </a:rPr>
              <a:t>目前需留意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702A2D8-7376-4F3F-B0B7-DEDB246A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收錄新聞不代表完整市場資訊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GitHub 排程可能延遲，免費服務有額度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AI 推論需回到原文與行情查證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000E22D-4F8C-4439-AF0B-1DA2CCC0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573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7DD6D0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7DD6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7DD6D0"/>
                </a:solidFill>
                <a:latin typeface="Noto Sans CJK TC"/>
                <a:ea typeface="Noto Sans CJK TC"/>
                <a:cs typeface="Noto Sans CJK TC"/>
              </a:rPr>
              <a:t>建議後續方向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D85129C-7F40-409D-968D-373CE589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加強資料完整性與服務狀態顯示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管理端提供觸發者識別碼對照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擴充美股覆蓋與使用體驗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10958A1-CF5F-4653-A81E-91F1B5F3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8ED8D0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8ED8D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8ED8D0"/>
                </a:solidFill>
                <a:latin typeface="Noto Sans CJK TC"/>
                <a:ea typeface="Noto Sans CJK TC"/>
                <a:cs typeface="Noto Sans CJK TC"/>
              </a:rPr>
              <a:t>專案入口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240D1D5-CC63-4CCD-8779-19790A7F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ugiyo.github.io/stock-news-calendar/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github.com/UgiYo/stock-news-calendar</a:t>
            </a:r>
          </a:p>
        </p:txBody>
      </p:sp>
    </p:spTree>
    <p:extLst>
      <p:ext uri="{BB962C8B-B14F-4D97-AF65-F5344CB8AC3E}">
        <p14:creationId xmlns:p14="http://schemas.microsoft.com/office/powerpoint/2010/main" val="807183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2026-10-13T06:53:21.8560000Z</dcterms:created>
  <dcterms:modified xsi:type="dcterms:W3CDTF">2026-10-13T06:53:21.8560000Z</dcterms:modified>
</coreProperties>
</file>